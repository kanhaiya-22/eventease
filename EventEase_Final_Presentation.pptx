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(minutes)</c:v>
                </c:pt>
              </c:strCache>
            </c:strRef>
          </c:tx>
          <c:spPr>
            <a:solidFill>
              <a:srgbClr val="8B3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Attendance</c:v>
                  </c:pt>
                  <c:pt idx="1">
                    <c:v>Cert. Issuance</c:v>
                  </c:pt>
                  <c:pt idx="2">
                    <c:v>Notify Cancellation</c:v>
                  </c:pt>
                  <c:pt idx="3">
                    <c:v>CSV Compile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480</c:v>
                </c:pt>
                <c:pt idx="2">
                  <c:v>60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EventEase (minutes)</c:v>
                </c:pt>
              </c:strCache>
            </c:strRef>
          </c:tx>
          <c:spPr>
            <a:solidFill>
              <a:srgbClr val="2E6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Attendance</c:v>
                  </c:pt>
                  <c:pt idx="1">
                    <c:v>Cert. Issuance</c:v>
                  </c:pt>
                  <c:pt idx="2">
                    <c:v>Notify Cancellation</c:v>
                  </c:pt>
                  <c:pt idx="3">
                    <c:v>CSV Compile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C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7D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C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40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40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ENGINEERING &amp; TECHNOLOGY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280160" cy="1280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Science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Engineering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6080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2025 — 26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6355080"/>
            <a:ext cx="548640" cy="228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8"/>
          <p:cNvSpPr/>
          <p:nvPr/>
        </p:nvSpPr>
        <p:spPr>
          <a:xfrm>
            <a:off x="42976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PRESENTATION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97680" y="1051560"/>
            <a:ext cx="50292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0"/>
          <p:cNvSpPr/>
          <p:nvPr/>
        </p:nvSpPr>
        <p:spPr>
          <a:xfrm>
            <a:off x="429768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EventEase</a:t>
            </a:r>
            <a:endParaRPr lang="en-US" sz="6400" dirty="0"/>
          </a:p>
        </p:txBody>
      </p:sp>
      <p:sp>
        <p:nvSpPr>
          <p:cNvPr id="15" name="Text 11"/>
          <p:cNvSpPr/>
          <p:nvPr/>
        </p:nvSpPr>
        <p:spPr>
          <a:xfrm>
            <a:off x="4297680" y="2377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College Event Management System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297680" y="2971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entire event lifecycle — discovery, registration, attendance, and certification.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297680" y="37033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97680" y="3703320"/>
            <a:ext cx="91440" cy="21031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9" name="Text 15"/>
          <p:cNvSpPr/>
          <p:nvPr/>
        </p:nvSpPr>
        <p:spPr>
          <a:xfrm>
            <a:off x="452628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26280" y="41148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Kanhaiya Mittal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2200521520026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Pulkit Diwakar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2300520109005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Chaudhary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2300520109006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183880" y="37033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83880" y="3703320"/>
            <a:ext cx="91440" cy="21031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19"/>
          <p:cNvSpPr/>
          <p:nvPr/>
        </p:nvSpPr>
        <p:spPr>
          <a:xfrm>
            <a:off x="841248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412480" y="41148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Vineet Kansal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Abhishek Singh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 Lucknow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297680" y="6400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A.P.J. Abdul Kalam Technical University, Uttar Pradesh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the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50876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508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05740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60604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60604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Problem Statement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15468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15468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370332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70332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0200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425196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425196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0020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480060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480060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800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00200" y="4800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" y="534924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534924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5349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60020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Permissions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2960" y="589788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" y="589788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897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600200" y="5897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46520" y="150876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4" name="Shape 42"/>
          <p:cNvSpPr/>
          <p:nvPr/>
        </p:nvSpPr>
        <p:spPr>
          <a:xfrm>
            <a:off x="6446520" y="150876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45" name="Text 43"/>
          <p:cNvSpPr/>
          <p:nvPr/>
        </p:nvSpPr>
        <p:spPr>
          <a:xfrm>
            <a:off x="662940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23760" y="1508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Lifecycle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46520" y="205740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8" name="Shape 46"/>
          <p:cNvSpPr/>
          <p:nvPr/>
        </p:nvSpPr>
        <p:spPr>
          <a:xfrm>
            <a:off x="6446520" y="205740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49" name="Text 47"/>
          <p:cNvSpPr/>
          <p:nvPr/>
        </p:nvSpPr>
        <p:spPr>
          <a:xfrm>
            <a:off x="662940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2376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(New Feature)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46520" y="260604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2" name="Shape 50"/>
          <p:cNvSpPr/>
          <p:nvPr/>
        </p:nvSpPr>
        <p:spPr>
          <a:xfrm>
            <a:off x="6446520" y="260604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3" name="Text 51"/>
          <p:cNvSpPr/>
          <p:nvPr/>
        </p:nvSpPr>
        <p:spPr>
          <a:xfrm>
            <a:off x="662940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2376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46520" y="315468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6" name="Shape 54"/>
          <p:cNvSpPr/>
          <p:nvPr/>
        </p:nvSpPr>
        <p:spPr>
          <a:xfrm>
            <a:off x="6446520" y="315468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7" name="Text 55"/>
          <p:cNvSpPr/>
          <p:nvPr/>
        </p:nvSpPr>
        <p:spPr>
          <a:xfrm>
            <a:off x="66294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22376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 EventEase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446520" y="370332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0" name="Shape 58"/>
          <p:cNvSpPr/>
          <p:nvPr/>
        </p:nvSpPr>
        <p:spPr>
          <a:xfrm>
            <a:off x="6446520" y="370332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61" name="Text 59"/>
          <p:cNvSpPr/>
          <p:nvPr/>
        </p:nvSpPr>
        <p:spPr>
          <a:xfrm>
            <a:off x="662940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23760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446520" y="425196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4" name="Shape 62"/>
          <p:cNvSpPr/>
          <p:nvPr/>
        </p:nvSpPr>
        <p:spPr>
          <a:xfrm>
            <a:off x="6446520" y="425196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65" name="Text 63"/>
          <p:cNvSpPr/>
          <p:nvPr/>
        </p:nvSpPr>
        <p:spPr>
          <a:xfrm>
            <a:off x="662940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22376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446520" y="480060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8" name="Shape 66"/>
          <p:cNvSpPr/>
          <p:nvPr/>
        </p:nvSpPr>
        <p:spPr>
          <a:xfrm>
            <a:off x="6446520" y="480060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69" name="Text 67"/>
          <p:cNvSpPr/>
          <p:nvPr/>
        </p:nvSpPr>
        <p:spPr>
          <a:xfrm>
            <a:off x="6629400" y="4800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223760" y="4800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446520" y="5349240"/>
            <a:ext cx="53492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72" name="Shape 70"/>
          <p:cNvSpPr/>
          <p:nvPr/>
        </p:nvSpPr>
        <p:spPr>
          <a:xfrm>
            <a:off x="6446520" y="5349240"/>
            <a:ext cx="64008" cy="4572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73" name="Text 71"/>
          <p:cNvSpPr/>
          <p:nvPr/>
        </p:nvSpPr>
        <p:spPr>
          <a:xfrm>
            <a:off x="6629400" y="5349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22376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76" name="Text 7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EventEase is and why it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colleges run a continuous calendar of technical fests, cultural nights, seminars, workshops, hackathons, and sports tournaments. Yet registration, attendance, communication and certification still depend on paper forms, ad-hoc spreadsheets, and broadcast notices.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is a unified, AI-enhanced, multi-tenant web platform that absorbs the entire event lifecycle — creation, approval, discovery, registration, attendance, certification and communication — into a single coordinated workflow.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45720" cy="1280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"One platform, three roles, complete event lifecycle — built for IET Lucknow, scalable to ~80 institutions."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502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554480"/>
            <a:ext cx="5029200" cy="73152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609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Coverage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2103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→ Approval → Registration → Attendance → Certificate — every stage in one app.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108960"/>
            <a:ext cx="502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3108960"/>
            <a:ext cx="5029200" cy="73152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609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by Default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60920" y="3657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Auto-provisions colleges from email domain; ~80 Indian institutions pre-mapped.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4663440"/>
            <a:ext cx="502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4663440"/>
            <a:ext cx="50292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6092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Assistant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60920" y="5212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chatbot 'Eeva' (Groq-backed) answers user queries with platform-aware grounding.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EventEase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operational observations accumulated across multiple semesters made the case for a single unified system instead of yet another point-tool: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10545775" cy="123444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2395728"/>
            <a:ext cx="731520" cy="731520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95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20240" y="22768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 Cost Dominates Execution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920240" y="26243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technical work is a fraction of an organizer's effort. What dominates is collating Google Forms, sending reminder emails one at a time, marking attendance on paper and typing names into certificates hundreds of times.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95360" y="2313432"/>
            <a:ext cx="1828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95360" y="2862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effort is plumbing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10545775" cy="123444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3767328"/>
            <a:ext cx="731520" cy="731520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67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20240" y="36484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Lost Between Phases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920240" y="39959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today produces its own artefact in its own format — Google Form, WhatsApp logs, paper sign-in sheets. The next phase starts from scratch because the previous artefact isn't usable.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95360" y="3685032"/>
            <a:ext cx="1828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95360" y="4233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per event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4892040"/>
            <a:ext cx="10545775" cy="123444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5138928"/>
            <a:ext cx="731520" cy="731520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1389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920240" y="50200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Certificate Issuance Scales Badly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920240" y="53675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200 attendees: open Canva, edit name 200 times, export 200 PDFs, send 200 emails. Misspelled names and wrong dates are routine. An automated pipeline removes the entire error class.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95360" y="5056632"/>
            <a:ext cx="1828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5120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weekend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595360" y="5605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200 certificates manually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&amp; 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solve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303520" cy="46177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54864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Higher-education institutions in India operate a high-volume, high-variety calendar of academic and extracurricular events but lack a unified digital system to manage the full event lifecycle.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cover only fragments — a form here, a spreadsheet there, an ad-hoc messaging channel for coordination, and a manual certificate template at the end.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fragmented data, unreliable attendance, inconsistent communication, and a heavy operational burden on every stakeholder.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5577840"/>
            <a:ext cx="4937760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577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"There is a need for a single, role-aware, multi-tenant platform."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OBJECTIVES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548640" cy="27432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221992"/>
            <a:ext cx="457200" cy="32004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221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default — auto-provision colleges from email domain (no manual onboarding).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788920"/>
            <a:ext cx="457200" cy="32004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715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Student, Organizer, Admin enforced at three boundaries.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3355848"/>
            <a:ext cx="457200" cy="32004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355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3282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Digital, validated event creation with capacity-bounded registration.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3922776"/>
            <a:ext cx="457200" cy="32004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9227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8496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attendance with student self-service (15-min check-in window).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489704"/>
            <a:ext cx="457200" cy="32004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4897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44165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with public verification — no login required for third parties.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5056632"/>
            <a:ext cx="457200" cy="32004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0566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4983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communication: announcements, comments, reactions, notifications.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623560"/>
            <a:ext cx="457200" cy="32004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623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5550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assistance via the Eeva chatbot.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and identified gaps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4577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1828800"/>
                <a:gridCol w="2377440"/>
                <a:gridCol w="1764792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Mehta et al.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PHP–MySQL college event system covering listing, registration and basic certificate issuance.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+ MySQL + JavaScript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 baseline gains over a paper workflow.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B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Single-tenant; new college needs a fresh deployment.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et al.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Node + MongoDB platform emphasising responsive design and QR-based attendance.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Node-Express, MongoDB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Highlighted QR attendance as a key novelty.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B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address concurrency in capacity-bounded registration.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Bhardwaj et al.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Three-role (student/organizer/admin) workflow-centric Firebase backend.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Realtime 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updates out of the box.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B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struggles with analytical relational queries.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Mitkari et al.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"Festagram" — event manager with an Instagram-like card feed UI.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stack + card feed 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Underscored discoverability as a first-class concern.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B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Lacks role-gated workflows and verification.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Ilkal et al.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QR vs RFID vs biometric attendance mechanisms.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QR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wins on cost, familiarity, simplicity.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B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depends on per-user uniqueness — often missed.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" y="6035040"/>
            <a:ext cx="10545775" cy="41148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6035040"/>
            <a:ext cx="73152" cy="4114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6035040"/>
            <a:ext cx="10271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gap: multi-tenant auto-provisioning, atomic capacity handling, and public certificate verification are rare across surveyed systems.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Feature-vertical development &amp; technology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 — Feature-Vertical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1737360" cy="7315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4892" y="2176272"/>
            <a:ext cx="82296" cy="219456"/>
          </a:xfrm>
          <a:prstGeom prst="rightArrow">
            <a:avLst/>
          </a:prstGeom>
          <a:solidFill>
            <a:srgbClr val="4A90A4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920240"/>
            <a:ext cx="1737360" cy="7315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93692" y="2176272"/>
            <a:ext cx="82296" cy="219456"/>
          </a:xfrm>
          <a:prstGeom prst="rightArrow">
            <a:avLst/>
          </a:prstGeom>
          <a:solidFill>
            <a:srgbClr val="4A90A4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1920240"/>
            <a:ext cx="1737360" cy="7315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(Zod)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2492" y="2176272"/>
            <a:ext cx="82296" cy="219456"/>
          </a:xfrm>
          <a:prstGeom prst="rightArrow">
            <a:avLst/>
          </a:prstGeom>
          <a:solidFill>
            <a:srgbClr val="4A90A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920240"/>
            <a:ext cx="1737360" cy="7315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1292" y="2176272"/>
            <a:ext cx="82296" cy="219456"/>
          </a:xfrm>
          <a:prstGeom prst="rightArrow">
            <a:avLst/>
          </a:prstGeom>
          <a:solidFill>
            <a:srgbClr val="4A90A4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1920240"/>
            <a:ext cx="1737360" cy="7315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Forms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80092" y="2176272"/>
            <a:ext cx="82296" cy="219456"/>
          </a:xfrm>
          <a:prstGeom prst="rightArrow">
            <a:avLst/>
          </a:prstGeom>
          <a:solidFill>
            <a:srgbClr val="4A90A4"/>
          </a:solidFill>
          <a:ln/>
        </p:spPr>
      </p:sp>
      <p:sp>
        <p:nvSpPr>
          <p:cNvPr id="28" name="Shape 26"/>
          <p:cNvSpPr/>
          <p:nvPr/>
        </p:nvSpPr>
        <p:spPr>
          <a:xfrm>
            <a:off x="9966960" y="1920240"/>
            <a:ext cx="1737360" cy="7315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Refactor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3246120"/>
            <a:ext cx="1463040" cy="384048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246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31720" y="3246120"/>
            <a:ext cx="9037015" cy="38404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5" name="Text 33"/>
          <p:cNvSpPr/>
          <p:nvPr/>
        </p:nvSpPr>
        <p:spPr>
          <a:xfrm>
            <a:off x="2468880" y="3246120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 • React 19 • Tailwind CSS 4 • shadcn/ui (Radix)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3666744"/>
            <a:ext cx="1463040" cy="384048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6667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31720" y="3666744"/>
            <a:ext cx="9037015" cy="38404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9" name="Text 37"/>
          <p:cNvSpPr/>
          <p:nvPr/>
        </p:nvSpPr>
        <p:spPr>
          <a:xfrm>
            <a:off x="2468880" y="3666744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&amp; Server Actions • REST API routes • Edge Middleware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" y="4087368"/>
            <a:ext cx="1463040" cy="384048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31720" y="4087368"/>
            <a:ext cx="9037015" cy="38404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3" name="Text 41"/>
          <p:cNvSpPr/>
          <p:nvPr/>
        </p:nvSpPr>
        <p:spPr>
          <a:xfrm>
            <a:off x="2468880" y="4087368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 • JWT sessions • bcrypt (12 rounds) • Split-config (Edge / Node)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" y="4507992"/>
            <a:ext cx="1463040" cy="384048"/>
          </a:xfrm>
          <a:prstGeom prst="rect">
            <a:avLst/>
          </a:prstGeom>
          <a:solidFill>
            <a:srgbClr val="4A6F7C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5079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31720" y="4507992"/>
            <a:ext cx="9037015" cy="38404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7" name="Text 45"/>
          <p:cNvSpPr/>
          <p:nvPr/>
        </p:nvSpPr>
        <p:spPr>
          <a:xfrm>
            <a:off x="2468880" y="4507992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(Neon) • Prisma 6 ORM • 13 models • Serializable transactions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2960" y="4928616"/>
            <a:ext cx="1463040" cy="384048"/>
          </a:xfrm>
          <a:prstGeom prst="rect">
            <a:avLst/>
          </a:prstGeom>
          <a:solidFill>
            <a:srgbClr val="5B7C99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49286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331720" y="4928616"/>
            <a:ext cx="9037015" cy="38404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1" name="Text 49"/>
          <p:cNvSpPr/>
          <p:nvPr/>
        </p:nvSpPr>
        <p:spPr>
          <a:xfrm>
            <a:off x="2468880" y="4928616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4 — single schema validates both client form and server request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22960" y="5349240"/>
            <a:ext cx="1463040" cy="384048"/>
          </a:xfrm>
          <a:prstGeom prst="rect">
            <a:avLst/>
          </a:prstGeom>
          <a:solidFill>
            <a:srgbClr val="6B8E9C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5349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31720" y="5349240"/>
            <a:ext cx="9037015" cy="38404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5" name="Text 53"/>
          <p:cNvSpPr/>
          <p:nvPr/>
        </p:nvSpPr>
        <p:spPr>
          <a:xfrm>
            <a:off x="2468880" y="5349240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(media) • Resend (email) • Groq LLM (Eeva chatbot) • Google OAuth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22960" y="5769864"/>
            <a:ext cx="1463040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57698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331720" y="5769864"/>
            <a:ext cx="9037015" cy="38404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9" name="Text 57"/>
          <p:cNvSpPr/>
          <p:nvPr/>
        </p:nvSpPr>
        <p:spPr>
          <a:xfrm>
            <a:off x="2468880" y="5769864"/>
            <a:ext cx="8899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(serverless) • Neon Postgres (free tier with PgBouncer pooling)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— browser → edge → server →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6400800" cy="777240"/>
          </a:xfrm>
          <a:prstGeom prst="rect">
            <a:avLst/>
          </a:prstGeom>
          <a:solidFill>
            <a:srgbClr val="D4A574"/>
          </a:solidFill>
          <a:ln/>
          <a:effectLst>
            <a:outerShdw sx="100000" sy="100000" kx="0" ky="0" algn="bl" rotWithShape="0" blurRad="635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783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756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client • Next.js Server Components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2487168"/>
            <a:ext cx="182880" cy="128016"/>
          </a:xfrm>
          <a:prstGeom prst="downArrow">
            <a:avLst/>
          </a:prstGeom>
          <a:solidFill>
            <a:srgbClr val="4A90A4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633472"/>
            <a:ext cx="6400800" cy="777240"/>
          </a:xfrm>
          <a:prstGeom prst="rect">
            <a:avLst/>
          </a:prstGeom>
          <a:solidFill>
            <a:srgbClr val="4A90A4"/>
          </a:solidFill>
          <a:ln/>
          <a:effectLst>
            <a:outerShdw sx="100000" sy="100000" kx="0" ky="0" algn="bl" rotWithShape="0" blurRad="635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7249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MIDDLEWARE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 • profile-complete gate • organizer-verified gate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3429000"/>
            <a:ext cx="182880" cy="128016"/>
          </a:xfrm>
          <a:prstGeom prst="downArrow">
            <a:avLst/>
          </a:prstGeom>
          <a:solidFill>
            <a:srgbClr val="4A90A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575304"/>
            <a:ext cx="6400800" cy="777240"/>
          </a:xfrm>
          <a:prstGeom prst="rect">
            <a:avLst/>
          </a:prstGeom>
          <a:solidFill>
            <a:srgbClr val="2E6E8E"/>
          </a:solidFill>
          <a:ln/>
          <a:effectLst>
            <a:outerShdw sx="100000" sy="100000" kx="0" ky="0" algn="bl" rotWithShape="0" blurRad="635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66674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NODE RUNTIME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9593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• REST API routes • Business logic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4370832"/>
            <a:ext cx="182880" cy="128016"/>
          </a:xfrm>
          <a:prstGeom prst="downArrow">
            <a:avLst/>
          </a:prstGeom>
          <a:solidFill>
            <a:srgbClr val="4A90A4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517136"/>
            <a:ext cx="6400800" cy="777240"/>
          </a:xfrm>
          <a:prstGeom prst="rect">
            <a:avLst/>
          </a:prstGeom>
          <a:solidFill>
            <a:srgbClr val="1C3D5A"/>
          </a:solidFill>
          <a:ln/>
          <a:effectLst>
            <a:outerShdw sx="100000" sy="100000" kx="0" ky="0" algn="bl" rotWithShape="0" blurRad="635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46085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ORM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9011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6 ORM • PostgreSQL 16 (Neon, PgBouncer pooled)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5312664"/>
            <a:ext cx="182880" cy="128016"/>
          </a:xfrm>
          <a:prstGeom prst="downArrow">
            <a:avLst/>
          </a:prstGeom>
          <a:solidFill>
            <a:srgbClr val="4A90A4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458968"/>
            <a:ext cx="6400800" cy="777240"/>
          </a:xfrm>
          <a:prstGeom prst="rect">
            <a:avLst/>
          </a:prstGeom>
          <a:solidFill>
            <a:srgbClr val="0F2A44"/>
          </a:solidFill>
          <a:ln/>
          <a:effectLst>
            <a:outerShdw sx="100000" sy="100000" kx="0" ky="0" algn="bl" rotWithShape="0" blurRad="635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55504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SERVICES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58430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• Resend • Groq LLM • Google OAuth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9520" y="1965960"/>
            <a:ext cx="4572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219456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2194560"/>
            <a:ext cx="54864" cy="9601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🪶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83880" y="22860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Edge-first auth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26060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split-config keeps the Edge bundle under 1 MB while the Node bundle holds full Prisma + bcrypt.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326440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3264408"/>
            <a:ext cx="54864" cy="9601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3355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183880" y="33558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Server-first rendering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26680" y="36758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fetch via Prisma directly; client hydration is reserved for genuinely interactive surfaces.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89520" y="4334256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4334256"/>
            <a:ext cx="54864" cy="9601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44256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183880" y="44256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Defence-in-depth RBAC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26680" y="474573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enforced at route, UI, and data-access boundaries — three independent layers.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9520" y="5404104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5404104"/>
            <a:ext cx="54864" cy="9601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54955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183880" y="54955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Schema-first data model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26680" y="58155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is the single source of truth — every TypeScript type flows from it.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entities, seven enumerations — Prisma + PostgreSQL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centres on three nuclei — Organization, User, and Event — and grows outward to Registration, Attendance, Certificate, and the communication entities.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&amp; RELATIONSHIPS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6126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828800" y="2834640"/>
            <a:ext cx="2057400" cy="27432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108960"/>
            <a:ext cx="4114800" cy="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2834640"/>
            <a:ext cx="2057400" cy="27432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2834640"/>
            <a:ext cx="1051560" cy="228600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4937760" y="3108960"/>
            <a:ext cx="1005840" cy="201168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2834640" y="5120640"/>
            <a:ext cx="2103120" cy="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554480" y="2834640"/>
            <a:ext cx="2331720" cy="164592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554480" y="3108960"/>
            <a:ext cx="4389120" cy="137160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108960"/>
            <a:ext cx="274320" cy="1463040"/>
          </a:xfrm>
          <a:prstGeom prst="line">
            <a:avLst/>
          </a:prstGeom>
          <a:noFill/>
          <a:ln w="15240">
            <a:solidFill>
              <a:srgbClr val="4A90A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2720340"/>
            <a:ext cx="1371600" cy="777240"/>
          </a:xfrm>
          <a:prstGeom prst="ellipse">
            <a:avLst/>
          </a:prstGeom>
          <a:solidFill>
            <a:srgbClr val="1C3D5A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2720340"/>
            <a:ext cx="13716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108960"/>
            <a:ext cx="13716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root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2446020"/>
            <a:ext cx="1371600" cy="777240"/>
          </a:xfrm>
          <a:prstGeom prst="ellipse">
            <a:avLst/>
          </a:prstGeom>
          <a:solidFill>
            <a:srgbClr val="1C3D5A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446020"/>
            <a:ext cx="13716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834640"/>
            <a:ext cx="13716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57800" y="2720340"/>
            <a:ext cx="1371600" cy="777240"/>
          </a:xfrm>
          <a:prstGeom prst="ellipse">
            <a:avLst/>
          </a:prstGeom>
          <a:solidFill>
            <a:srgbClr val="1C3D5A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57800" y="2720340"/>
            <a:ext cx="13716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108960"/>
            <a:ext cx="13716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0" y="4777740"/>
            <a:ext cx="1280160" cy="685800"/>
          </a:xfrm>
          <a:prstGeom prst="ellipse">
            <a:avLst/>
          </a:prstGeom>
          <a:solidFill>
            <a:srgbClr val="2E6E8E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97680" y="4777740"/>
            <a:ext cx="1280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5120640"/>
            <a:ext cx="12801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× event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94560" y="4777740"/>
            <a:ext cx="1280160" cy="685800"/>
          </a:xfrm>
          <a:prstGeom prst="ellipse">
            <a:avLst/>
          </a:prstGeom>
          <a:solidFill>
            <a:srgbClr val="2E6E8E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94560" y="4777740"/>
            <a:ext cx="1280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94560" y="5120640"/>
            <a:ext cx="12801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manual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0120" y="4160520"/>
            <a:ext cx="1188720" cy="640080"/>
          </a:xfrm>
          <a:prstGeom prst="ellipse">
            <a:avLst/>
          </a:prstGeom>
          <a:solidFill>
            <a:srgbClr val="D4A574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4160520"/>
            <a:ext cx="1188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480560"/>
            <a:ext cx="11887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0" y="4251960"/>
            <a:ext cx="1463040" cy="640080"/>
          </a:xfrm>
          <a:prstGeom prst="ellipse">
            <a:avLst/>
          </a:prstGeom>
          <a:solidFill>
            <a:srgbClr val="D4A574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0" y="4251960"/>
            <a:ext cx="1463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4572000"/>
            <a:ext cx="1463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comments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AT A GLANCE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78040" y="2468880"/>
            <a:ext cx="2194560" cy="7315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42" name="Text 40"/>
          <p:cNvSpPr/>
          <p:nvPr/>
        </p:nvSpPr>
        <p:spPr>
          <a:xfrm>
            <a:off x="71780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1780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/ Models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482328" y="2468880"/>
            <a:ext cx="2194560" cy="7315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45" name="Text 43"/>
          <p:cNvSpPr/>
          <p:nvPr/>
        </p:nvSpPr>
        <p:spPr>
          <a:xfrm>
            <a:off x="9482328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482328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78040" y="3310128"/>
            <a:ext cx="2194560" cy="7315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48" name="Text 46"/>
          <p:cNvSpPr/>
          <p:nvPr/>
        </p:nvSpPr>
        <p:spPr>
          <a:xfrm>
            <a:off x="717804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17804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482328" y="3310128"/>
            <a:ext cx="2194560" cy="7315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51" name="Text 49"/>
          <p:cNvSpPr/>
          <p:nvPr/>
        </p:nvSpPr>
        <p:spPr>
          <a:xfrm>
            <a:off x="9482328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9482328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columns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7804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ENUMERATIONS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78040" y="4526280"/>
            <a:ext cx="36576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5" name="Shape 53"/>
          <p:cNvSpPr/>
          <p:nvPr/>
        </p:nvSpPr>
        <p:spPr>
          <a:xfrm>
            <a:off x="7178040" y="4663440"/>
            <a:ext cx="4572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9480" y="4663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algn="l"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• ORGANIZER • ADMIN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178040" y="5047488"/>
            <a:ext cx="4572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69480" y="5047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EventStatus  </a:t>
            </a:r>
            <a:pPr algn="l"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• PUBLISHED • ONGOING • COMPLETED...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178040" y="5431536"/>
            <a:ext cx="4572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69480" y="54315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RegistrationStatus  </a:t>
            </a:r>
            <a:pPr algn="l"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• WAITLISTED • CANCELLED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178040" y="5815584"/>
            <a:ext cx="4572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58155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AttendanceMethod  </a:t>
            </a:r>
            <a:pPr algn="l" indent="0" marL="0">
              <a:buNone/>
            </a:pPr>
            <a:r>
              <a:rPr lang="en-US" sz="8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• MANUAL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Roles &amp; Permissions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tailored experiences, defence-in-depth RBAC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enforces role-based access control at three independent boundaries — route middleware, UI sidebar filtering, and the data-access boundary in server actions.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03120"/>
            <a:ext cx="3566160" cy="91440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320040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browse events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events (waitlist supported)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QR code &amp; self check-in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verified certificates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react to announcements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Eeva AI assistant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 profile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90288" y="21031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2103120"/>
            <a:ext cx="3566160" cy="91440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596128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96128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Admin-approved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320040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events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event lifecycle transitions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codes for attendance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Bulk-issue certificates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announcements org-wide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registrations as CSV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admin for issues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57616" y="21031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103120"/>
            <a:ext cx="3566160" cy="9144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22" name="Text 20"/>
          <p:cNvSpPr/>
          <p:nvPr/>
        </p:nvSpPr>
        <p:spPr>
          <a:xfrm>
            <a:off x="8631936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363456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63456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31936" y="320040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organisations (CRUD)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organizer requests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events across colleges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analytics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platform announcements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maintenance operations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organizers of any college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and key engineering decisions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00200"/>
            <a:ext cx="64008" cy="14173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1737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split-config: Edge bundle ~300KB (Google OAuth + session cb); Node bundle holds Prisma adapter + bcrypt credentials.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81928" y="1600200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1928" y="1600200"/>
            <a:ext cx="64008" cy="14173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59168" y="1737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Org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64808" y="22402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Email-domain map of ~80 institutions auto-provisions an Organization on first signup — no manual onboarding step.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127248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127248"/>
            <a:ext cx="64008" cy="14173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3264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Lifecycle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machine: DRAFT → PUBLISHED → ONGOING → COMPLETED → ARCHIVED; CANCELLED reachable from active states.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81928" y="3127248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81928" y="3127248"/>
            <a:ext cx="64008" cy="14173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59168" y="3264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Waitlist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64808" y="37673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runs inside a Prisma Serializable transaction — capacity check + insert are atomic; Postgres aborts concurrent over-booking.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4654296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654296"/>
            <a:ext cx="64008" cy="14173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791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00200" y="47914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Attendance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05840" y="529437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Per-registration UUID QR code; organizer scans via html5-qrcode camera, or student self-check-in within a 15-minute window.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81928" y="4654296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DC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81928" y="4654296"/>
            <a:ext cx="64008" cy="14173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4791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59168" y="47914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464808" y="529437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Bulk-issue with UUID verification codes; public /verify/[code] URL — no login required for external recruiters.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Lifecycle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 — every transition is explicit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traverses a deterministic state machine. Transitions are guarded by an authoritative table and rejected with a clear error if attempted out of order.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86688" y="3291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5A6C7D"/>
          </a:solidFill>
          <a:ln/>
          <a:effectLst>
            <a:outerShdw sx="100000" sy="100000" kx="0" ky="0" algn="bl" rotWithShape="0" blurRad="63500" dist="1905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86688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86888" y="3570732"/>
            <a:ext cx="320040" cy="219456"/>
          </a:xfrm>
          <a:prstGeom prst="rightArrow">
            <a:avLst/>
          </a:prstGeom>
          <a:solidFill>
            <a:srgbClr val="1C3D5A"/>
          </a:solidFill>
          <a:ln/>
        </p:spPr>
      </p:sp>
      <p:sp>
        <p:nvSpPr>
          <p:cNvPr id="11" name="Shape 9"/>
          <p:cNvSpPr/>
          <p:nvPr/>
        </p:nvSpPr>
        <p:spPr>
          <a:xfrm>
            <a:off x="3352648" y="3291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E6E8E"/>
          </a:solidFill>
          <a:ln/>
          <a:effectLst>
            <a:outerShdw sx="100000" sy="100000" kx="0" ky="0" algn="bl" rotWithShape="0" blurRad="63500" dist="1905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2648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52848" y="3570732"/>
            <a:ext cx="320040" cy="219456"/>
          </a:xfrm>
          <a:prstGeom prst="rightArrow">
            <a:avLst/>
          </a:prstGeom>
          <a:solidFill>
            <a:srgbClr val="1C3D5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18608" y="3291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4A90A4"/>
          </a:solidFill>
          <a:ln/>
          <a:effectLst>
            <a:outerShdw sx="100000" sy="100000" kx="0" ky="0" algn="bl" rotWithShape="0" blurRad="63500" dist="1905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18608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18808" y="3570732"/>
            <a:ext cx="320040" cy="219456"/>
          </a:xfrm>
          <a:prstGeom prst="rightArrow">
            <a:avLst/>
          </a:prstGeom>
          <a:solidFill>
            <a:srgbClr val="1C3D5A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4568" y="3291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5B8A72"/>
          </a:solidFill>
          <a:ln/>
          <a:effectLst>
            <a:outerShdw sx="100000" sy="100000" kx="0" ky="0" algn="bl" rotWithShape="0" blurRad="63500" dist="1905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84568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84768" y="3570732"/>
            <a:ext cx="320040" cy="219456"/>
          </a:xfrm>
          <a:prstGeom prst="rightArrow">
            <a:avLst/>
          </a:prstGeom>
          <a:solidFill>
            <a:srgbClr val="1C3D5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0528" y="3291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F2A44"/>
          </a:solidFill>
          <a:ln/>
          <a:effectLst>
            <a:outerShdw sx="100000" sy="100000" kx="0" ky="0" algn="bl" rotWithShape="0" blurRad="63500" dist="1905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50528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95448" y="30175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61408" y="30175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27368" y="30175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793328" y="30175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09848" y="2286000"/>
            <a:ext cx="1554480" cy="544068"/>
          </a:xfrm>
          <a:prstGeom prst="roundRect">
            <a:avLst>
              <a:gd name="adj" fmla="val 13445"/>
            </a:avLst>
          </a:prstGeom>
          <a:solidFill>
            <a:srgbClr val="D4A574"/>
          </a:solidFill>
          <a:ln/>
          <a:effectLst>
            <a:outerShdw sx="100000" sy="100000" kx="0" ky="0" algn="bl" rotWithShape="0" blurRad="63500" dist="1905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09848" y="2286000"/>
            <a:ext cx="15544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63928" y="2830068"/>
            <a:ext cx="1645920" cy="461772"/>
          </a:xfrm>
          <a:prstGeom prst="line">
            <a:avLst/>
          </a:prstGeom>
          <a:noFill/>
          <a:ln w="19050">
            <a:solidFill>
              <a:srgbClr val="D4A57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455768" y="2441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18608" y="4754880"/>
            <a:ext cx="1554480" cy="544068"/>
          </a:xfrm>
          <a:prstGeom prst="roundRect">
            <a:avLst>
              <a:gd name="adj" fmla="val 13445"/>
            </a:avLst>
          </a:prstGeom>
          <a:solidFill>
            <a:srgbClr val="8B3A3A"/>
          </a:solidFill>
          <a:ln/>
          <a:effectLst>
            <a:outerShdw sx="100000" sy="100000" kx="0" ky="0" algn="bl" rotWithShape="0" blurRad="63500" dist="19050" dir="54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18608" y="4754880"/>
            <a:ext cx="15544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29888" y="4069080"/>
            <a:ext cx="1965960" cy="685800"/>
          </a:xfrm>
          <a:prstGeom prst="line">
            <a:avLst/>
          </a:prstGeom>
          <a:noFill/>
          <a:ln w="12700">
            <a:solidFill>
              <a:srgbClr val="8B3A3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095848" y="4069080"/>
            <a:ext cx="0" cy="685800"/>
          </a:xfrm>
          <a:prstGeom prst="line">
            <a:avLst/>
          </a:prstGeom>
          <a:noFill/>
          <a:ln w="12700">
            <a:solidFill>
              <a:srgbClr val="8B3A3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227168" y="53446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5760720"/>
            <a:ext cx="1054577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5760720"/>
            <a:ext cx="91440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7" name="Text 35"/>
          <p:cNvSpPr/>
          <p:nvPr/>
        </p:nvSpPr>
        <p:spPr>
          <a:xfrm>
            <a:off x="1051560" y="576072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transitions enforced via VALID_TRANSITIONS table in event-status.ts — out-of-order changes are rejected with a deterministic error. CANCELLED or COMPLETED fans out notifications to every confirmed registrant.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↔ Organizer Messaging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communication channel for governance and support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80015" y="5029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10180015" y="502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 FEATURE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bi-directional messaging surface added after the initial thesis snapshot. Administrators can reach out to organizers of any college; organizers can write back with issues, queries, or coordination requests.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2743200" cy="2011680"/>
          </a:xfrm>
          <a:prstGeom prst="rect">
            <a:avLst/>
          </a:prstGeom>
          <a:solidFill>
            <a:srgbClr val="1C3D5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organizers of any college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Cross-college visibility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Initiate or reply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2331720"/>
            <a:ext cx="4846320" cy="201168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0" y="25146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C3D5A"/>
          </a:solidFill>
          <a:ln/>
        </p:spPr>
      </p:sp>
      <p:sp>
        <p:nvSpPr>
          <p:cNvPr id="17" name="Text 15"/>
          <p:cNvSpPr/>
          <p:nvPr/>
        </p:nvSpPr>
        <p:spPr>
          <a:xfrm>
            <a:off x="397764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Please confirm venue change for Hackathon.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0" y="310896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Organizer: Confirmed — moved to Block A, Hall 2.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86200" y="37033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C3D5A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Thanks. Notification will be auto-pushed.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95360" y="2331720"/>
            <a:ext cx="2743200" cy="2011680"/>
          </a:xfrm>
          <a:prstGeom prst="rect">
            <a:avLst/>
          </a:prstGeom>
          <a:solidFill>
            <a:srgbClr val="2E6E8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9536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5953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4108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issues, asks queries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 reporting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admin contact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461772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617720"/>
            <a:ext cx="27432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754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54480" y="4754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Bi-Directional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05840" y="5212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party can initiate. Threaded back-and-forth in one place.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85032" y="461772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85032" y="4617720"/>
            <a:ext cx="27432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3822192" y="4754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416552" y="4754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Cross-College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867912" y="5212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reach organizers in any organisation; organizer reaches the admin layer.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47104" y="461772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47104" y="4617720"/>
            <a:ext cx="27432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9" name="Text 37"/>
          <p:cNvSpPr/>
          <p:nvPr/>
        </p:nvSpPr>
        <p:spPr>
          <a:xfrm>
            <a:off x="6684264" y="4754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278624" y="4754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Wired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729984" y="5212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message produces an in-app bell notification with deep link.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09176" y="461772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409176" y="4617720"/>
            <a:ext cx="27432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4" name="Text 42"/>
          <p:cNvSpPr/>
          <p:nvPr/>
        </p:nvSpPr>
        <p:spPr>
          <a:xfrm>
            <a:off x="9546336" y="4754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0140696" y="4754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Reporting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592056" y="5212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can flag bugs, capacity disputes, or governance queries.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of verification before each release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relies on a layered verification strategy. Each layer catches a different class of defect — from compile-time type errors to concurrency-sensitive bugs at the capacity boundary.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VERIFICATION LAYERS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685800" cy="658368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1460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587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 Strict Mode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843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mismatched types and missing properties at compile time.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264408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64408"/>
            <a:ext cx="685800" cy="658368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6440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ESLint + eslint-config-next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5935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unused variables, missing hook deps, accidental any types.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014216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14216"/>
            <a:ext cx="685800" cy="658368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1421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Constraints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43434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unique constraints, foreign keys, and enum domains.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764024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764024"/>
            <a:ext cx="685800" cy="65836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76402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45920" y="4837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Functional Walks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5093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role exercised end-to-end including failure paths.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5513832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513832"/>
            <a:ext cx="685800" cy="658368"/>
          </a:xfrm>
          <a:prstGeom prst="rect">
            <a:avLst/>
          </a:prstGeom>
          <a:solidFill>
            <a:srgbClr val="5B7C99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51383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645920" y="5586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 Sanity Tests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45920" y="58430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Two-browser tests on the capacity boundary — serializable TX verified.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MATRIX (EXCERPT)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514600"/>
          <a:ext cx="45720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with known email domain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 organizer redirected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registration on full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check-in outside 15-min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certificate issuance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cert verification (no login)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→ Organizer message delivery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6903720" y="5486400"/>
            <a:ext cx="4572000" cy="59436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7" name="Shape 34"/>
          <p:cNvSpPr/>
          <p:nvPr/>
        </p:nvSpPr>
        <p:spPr>
          <a:xfrm>
            <a:off x="6903720" y="5486400"/>
            <a:ext cx="73152" cy="5943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54864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30+ test cases passed on the final build. Automated test suite is planned for the next cycle.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40" name="Text 3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Workflow vs EventEase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operational dimensions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4297680" cy="64008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BASELINE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1600200"/>
            <a:ext cx="1828800" cy="6400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1600200"/>
            <a:ext cx="4251960" cy="64008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6002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EVENTEASE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331720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2331720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2331720"/>
            <a:ext cx="4251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board + WhatsApp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Announcement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events feed + in-app notifications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2825496"/>
            <a:ext cx="429768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2080" y="2825496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2825496"/>
            <a:ext cx="425196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825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+ spreadsheet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2825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form • capacity-checked atomically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3319272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3319272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3319272"/>
            <a:ext cx="4251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319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or post-hoc triage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0" y="3319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Enforcement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3319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Postgres transaction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3813048"/>
            <a:ext cx="429768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3813048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3813048"/>
            <a:ext cx="425196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3813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3813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3813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FIFO auto-promotion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" y="4306824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212080" y="4306824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9" name="Shape 37"/>
          <p:cNvSpPr/>
          <p:nvPr/>
        </p:nvSpPr>
        <p:spPr>
          <a:xfrm>
            <a:off x="7132320" y="4306824"/>
            <a:ext cx="4251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" y="43068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sign-in sheet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0" y="4306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43068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or self check-in (15-min window)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2960" y="4800600"/>
            <a:ext cx="429768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4" name="Shape 42"/>
          <p:cNvSpPr/>
          <p:nvPr/>
        </p:nvSpPr>
        <p:spPr>
          <a:xfrm>
            <a:off x="5212080" y="4800600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132320" y="4800600"/>
            <a:ext cx="425196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" y="4800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edit, 1 at a time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12080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Issuance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69480" y="4800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issue with UUID verification codes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22960" y="5294376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5212080" y="5294376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51" name="Shape 49"/>
          <p:cNvSpPr/>
          <p:nvPr/>
        </p:nvSpPr>
        <p:spPr>
          <a:xfrm>
            <a:off x="7132320" y="5294376"/>
            <a:ext cx="4251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960120" y="52943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committee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12080" y="5294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69480" y="52943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/verify URL (no login)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22960" y="5788152"/>
            <a:ext cx="429768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6" name="Shape 54"/>
          <p:cNvSpPr/>
          <p:nvPr/>
        </p:nvSpPr>
        <p:spPr>
          <a:xfrm>
            <a:off x="5212080" y="5788152"/>
            <a:ext cx="1828800" cy="45720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57" name="Shape 55"/>
          <p:cNvSpPr/>
          <p:nvPr/>
        </p:nvSpPr>
        <p:spPr>
          <a:xfrm>
            <a:off x="7132320" y="5788152"/>
            <a:ext cx="425196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8" name="Text 56"/>
          <p:cNvSpPr/>
          <p:nvPr/>
        </p:nvSpPr>
        <p:spPr>
          <a:xfrm>
            <a:off x="960120" y="57881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Re-deploy + manual setup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212080" y="5788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</a:t>
            </a:r>
            <a:pPr algn="ctr" indent="0" marL="0">
              <a:buNone/>
            </a:pPr>
            <a:r>
              <a:rPr lang="en-US" sz="85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new college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269480" y="57881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 from email domain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22960" y="6263640"/>
            <a:ext cx="10545775" cy="137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2" name="Shape 60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delivered, by the numbers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651760" cy="100584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93592" y="1600200"/>
            <a:ext cx="2651760" cy="100584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93592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64224" y="1600200"/>
            <a:ext cx="2651760" cy="100584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34856" y="1600200"/>
            <a:ext cx="2651760" cy="100584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134856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Mapped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Comparison — Manual vs EventEase (per 100-attendee event)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22960" y="3063240"/>
          <a:ext cx="5943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8"/>
          <p:cNvSpPr/>
          <p:nvPr/>
        </p:nvSpPr>
        <p:spPr>
          <a:xfrm>
            <a:off x="704088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40880" y="3017520"/>
            <a:ext cx="457200" cy="27432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0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9808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time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738360" y="3154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→ ~5 min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40880" y="3611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issuance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738360" y="3611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→ 1 click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40880" y="4069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49808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over-booking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38360" y="4069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(serializable TX)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040880" y="4526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498080" y="4526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Eeva latency (p50)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738360" y="4526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s with stream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040880" y="4983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498080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middleware bundle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738360" y="4983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KB (within 1 MB)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40880" y="5440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49808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college onboarding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738360" y="5440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at first signup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42" name="Text 3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delivered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is a full-stack, multi-tenant, role-aware web platform that absorbs the operational lifecycle of college events into a single coherent 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349240" cy="178308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103120"/>
            <a:ext cx="5349240" cy="64008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2331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Objectives Achieved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9260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stated objectives (O1–O8) — from multi-tenant auto-provisioning to AI assistance — are delivered, deployed and operable end-to-end.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349240" cy="178308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103120"/>
            <a:ext cx="5349240" cy="64008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78040" y="2331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Substantial Operational Gains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9260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shrinks from ~30 min to ~5 min; certificate issuance from a weekend to one click; analytics from a manual audit to milliseconds.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5349240" cy="178308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23360"/>
            <a:ext cx="5349240" cy="64008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9164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Data-Integrity Guarantees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4846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never exceeded under concurrent load — Postgres-level serializable isolation prevents the race that overbooks classic forms.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023360"/>
            <a:ext cx="5349240" cy="178308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4023360"/>
            <a:ext cx="5349240" cy="64008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7804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Production-Shaped Architecture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4846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role-gating at three boundaries; schema-first data model; validation shared across client and server via a single Zod schema.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852160"/>
            <a:ext cx="10545775" cy="59436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852160"/>
            <a:ext cx="91440" cy="5943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585216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"Absorbing the event lifecycle into a single coherent system — even on free-tier cloud infrastructure — yields substantial operational gains over the manual baseline."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the next development cycle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capabilities are scoped out of this release and form the immediate roadmap for the next cohort of contributors: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58568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Test Suite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54480" y="24414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for unit &amp; integration tests on server actions; Playwright for end-to-end browser tests on registration, attendance, and certificate flows.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72784" y="2057400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2258568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04304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Certificate Rendering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04304" y="24414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@react-pdf/renderer into the issuance flow; upload the generated PDF to Cloudinary and email it to the attendee.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118104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319272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2095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Sync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554480" y="35021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sync of registered events to Google Calendar and Outlook — students never miss an event they signed up for.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72784" y="3118104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3319272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04304" y="32095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Gateway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04304" y="35021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integration for paid workshops &amp; conferences — registration status reconciled with payment outcome.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4178808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379976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4270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Web-Push Notifications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554480" y="45628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Service-worker-based push so students get desktop / mobile alerts even when the tab is closed.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72784" y="4178808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4379976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04304" y="4270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004304" y="45628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 prediction based on registration rate + historical category baselines; personalised event recommendations.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2960" y="5239512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5440680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54480" y="5330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Cross-College Events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554480" y="5623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joins to support hackathons or conferences co-organised by two or more institutions.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72784" y="5239512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9944" y="5440680"/>
            <a:ext cx="502920" cy="50292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9944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04304" y="5330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SSO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004304" y="5623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or OIDC integration with campus identity providers — replaces email/password sign-up where institutions prefer it.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work and key technical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Mehta, S., Goud, K. S., Pavankalyan, K., Kumar, J. K. &amp; Srinivas, D.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"College Event Management System."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EasyChair Preprint nmHZ, 2023.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Kumar, M. U., Maheshwari, P., Vyshnavi, V., Swejan, P. &amp; Nanditha, 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"College Event Management System."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Journal of Engineering Science and Advanced Technology, vol. 25, no. 5, 2025.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4290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Thombare, G., Jadhav, P., Dhere, S., Jadhav, P. &amp; Honwadkar, K. N.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"College Event Management: A Survey of Analytics and Personalization."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IRJMETS, Nov. 2023.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43434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Bhardwaj, M., Bachhawat, P. &amp; Jaiswal, 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"College Event Management System."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Scientific Journal, 2023.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52578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Mitkari, S. S., Bangar, T., Gaikwad, G., Pachpinde, S. &amp; Vairagar, 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"Festagram: College Event Management System."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Journal of Innovative Science and Research Technology, Apr. 2024.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6002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Ilkal, A., Itagi, N., Lokapur, S. &amp; Deepa, I. K.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"Event Management System."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Journal of Novel Research and Development, 2024.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514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5146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Inc.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"Next.js Documentation — App Router."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https://nextjs.org/docs (accessed Apr. 2026).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34290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"Prisma ORM Documentation."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https://www.prisma.io/docs (accessed Apr. 2026).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4343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43434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Contributors.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"NextAuth.js v5 (Auth.js) Documentation."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https://authjs.dev (accessed Apr. 2026).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5257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52578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C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"OWASP Top 10: 2021 — The Ten Most Critical Web Application Security Risks."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https://owasp.org/Top10/ (2021).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7D2D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EventEase  •  IET Lucknow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45720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" name="Shape 2"/>
          <p:cNvSpPr/>
          <p:nvPr/>
        </p:nvSpPr>
        <p:spPr>
          <a:xfrm>
            <a:off x="914400" y="3566160"/>
            <a:ext cx="109728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8EE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EventEase — Simplifying College Event Management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14400" y="4434840"/>
            <a:ext cx="3108960" cy="502920"/>
          </a:xfrm>
          <a:prstGeom prst="rect">
            <a:avLst/>
          </a:prstGeom>
          <a:solidFill>
            <a:srgbClr val="0F2A44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4434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4434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real problems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4434840"/>
            <a:ext cx="3108960" cy="502920"/>
          </a:xfrm>
          <a:prstGeom prst="rect">
            <a:avLst/>
          </a:prstGeom>
          <a:solidFill>
            <a:srgbClr val="0F2A44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4434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46320" y="4434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4434840"/>
            <a:ext cx="3108960" cy="502920"/>
          </a:xfrm>
          <a:prstGeom prst="rect">
            <a:avLst/>
          </a:prstGeom>
          <a:solidFill>
            <a:srgbClr val="0F2A44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4434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83880" y="4434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(Eeva)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6080760"/>
            <a:ext cx="11963095" cy="50292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6080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15  •  B.Tech CSE  •  IET Lucknow  •  Session 2025–26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34095" y="6080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EventEase: AI-Powered College Event Management System</dc:title>
  <dc:subject>PptxGenJS Presentation</dc:subject>
  <dc:creator>Kanhaiya Mittal, Pulkit Diwakar, Vikas Chaudhary</dc:creator>
  <cp:lastModifiedBy>Kanhaiya Mittal, Pulkit Diwakar, Vikas Chaudhary</cp:lastModifiedBy>
  <cp:revision>1</cp:revision>
  <dcterms:created xsi:type="dcterms:W3CDTF">2026-05-20T10:00:16Z</dcterms:created>
  <dcterms:modified xsi:type="dcterms:W3CDTF">2026-05-20T10:00:16Z</dcterms:modified>
</cp:coreProperties>
</file>